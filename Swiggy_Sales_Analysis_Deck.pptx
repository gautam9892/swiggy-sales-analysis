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C8019"/>
            </a:solidFill>
            <a:ln w="25400" cap="flat">
              <a:solidFill>
                <a:srgbClr val="FC801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C8019"/>
              </a:solidFill>
              <a:ln w="9525" cap="flat">
                <a:solidFill>
                  <a:srgbClr val="FC80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38000</c:v>
                </c:pt>
                <c:pt idx="2">
                  <c:v>51000</c:v>
                </c:pt>
                <c:pt idx="3">
                  <c:v>47000</c:v>
                </c:pt>
                <c:pt idx="4">
                  <c:v>62000</c:v>
                </c:pt>
                <c:pt idx="5">
                  <c:v>58000</c:v>
                </c:pt>
                <c:pt idx="6">
                  <c:v>71000</c:v>
                </c:pt>
                <c:pt idx="7">
                  <c:v>65000</c:v>
                </c:pt>
                <c:pt idx="8">
                  <c:v>78000</c:v>
                </c:pt>
                <c:pt idx="9">
                  <c:v>82000</c:v>
                </c:pt>
                <c:pt idx="10">
                  <c:v>91000</c:v>
                </c:pt>
                <c:pt idx="11">
                  <c:v>88000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18000</c:v>
                </c:pt>
                <c:pt idx="1">
                  <c:v>22000</c:v>
                </c:pt>
                <c:pt idx="2">
                  <c:v>19500</c:v>
                </c:pt>
                <c:pt idx="3">
                  <c:v>25000</c:v>
                </c:pt>
                <c:pt idx="4">
                  <c:v>21000</c:v>
                </c:pt>
                <c:pt idx="5">
                  <c:v>27500</c:v>
                </c:pt>
                <c:pt idx="6">
                  <c:v>24000</c:v>
                </c:pt>
                <c:pt idx="7">
                  <c:v>29000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C80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52000</c:v>
                </c:pt>
                <c:pt idx="1">
                  <c:v>48000</c:v>
                </c:pt>
                <c:pt idx="2">
                  <c:v>55000</c:v>
                </c:pt>
                <c:pt idx="3">
                  <c:v>61000</c:v>
                </c:pt>
                <c:pt idx="4">
                  <c:v>78000</c:v>
                </c:pt>
                <c:pt idx="5">
                  <c:v>95000</c:v>
                </c:pt>
                <c:pt idx="6">
                  <c:v>88000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C80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Veg</c:v>
                </c:pt>
                <c:pt idx="1">
                  <c:v>Non-Veg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Bengaluru</c:v>
                  </c:pt>
                  <c:pt idx="1">
                    <c:v>Mumbai</c:v>
                  </c:pt>
                  <c:pt idx="2">
                    <c:v>Hyderabad</c:v>
                  </c:pt>
                  <c:pt idx="3">
                    <c:v>Chennai</c:v>
                  </c:pt>
                  <c:pt idx="4">
                    <c:v>Delhi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520000</c:v>
                </c:pt>
                <c:pt idx="1">
                  <c:v>480000</c:v>
                </c:pt>
                <c:pt idx="2">
                  <c:v>420000</c:v>
                </c:pt>
                <c:pt idx="3">
                  <c:v>380000</c:v>
                </c:pt>
                <c:pt idx="4">
                  <c:v>350000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94A3B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Karnataka</c:v>
                  </c:pt>
                  <c:pt idx="1">
                    <c:v>Maharashtra</c:v>
                  </c:pt>
                  <c:pt idx="2">
                    <c:v>Telangana</c:v>
                  </c:pt>
                  <c:pt idx="3">
                    <c:v>Tamil Nadu</c:v>
                  </c:pt>
                  <c:pt idx="4">
                    <c:v>Delhi</c:v>
                  </c:pt>
                  <c:pt idx="5">
                    <c:v>Gujarat</c:v>
                  </c:pt>
                  <c:pt idx="6">
                    <c:v>Rajasthan</c:v>
                  </c:pt>
                  <c:pt idx="7">
                    <c:v>West Bengal</c:v>
                  </c:pt>
                  <c:pt idx="8">
                    <c:v>Pune</c:v>
                  </c:pt>
                  <c:pt idx="9">
                    <c:v>Goa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520000</c:v>
                </c:pt>
                <c:pt idx="1">
                  <c:v>480000</c:v>
                </c:pt>
                <c:pt idx="2">
                  <c:v>420000</c:v>
                </c:pt>
                <c:pt idx="3">
                  <c:v>380000</c:v>
                </c:pt>
                <c:pt idx="4">
                  <c:v>350000</c:v>
                </c:pt>
                <c:pt idx="5">
                  <c:v>310000</c:v>
                </c:pt>
                <c:pt idx="6">
                  <c:v>280000</c:v>
                </c:pt>
                <c:pt idx="7">
                  <c:v>240000</c:v>
                </c:pt>
                <c:pt idx="8">
                  <c:v>210000</c:v>
                </c:pt>
                <c:pt idx="9">
                  <c:v>180000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94A3B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gautam9892/" TargetMode="External"/><Relationship Id="rId3" Type="http://schemas.openxmlformats.org/officeDocument/2006/relationships/hyperlink" Target="https://github.com/gautam9892" TargetMode="External"/><Relationship Id="rId4" Type="http://schemas.openxmlformats.org/officeDocument/2006/relationships/hyperlink" Target="https://gautamkumawat.vercel.app/" TargetMode="External"/><Relationship Id="rId2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C8019">
              <a:alpha val="15000"/>
            </a:srgbClr>
          </a:solidFill>
          <a:ln w="12700">
            <a:solidFill>
              <a:srgbClr val="FC801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182880"/>
            <a:ext cx="1828800" cy="1828800"/>
          </a:xfrm>
          <a:prstGeom prst="ellipse">
            <a:avLst/>
          </a:prstGeom>
          <a:solidFill>
            <a:srgbClr val="FC8019">
              <a:alpha val="30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4114800"/>
            <a:ext cx="1828800" cy="1828800"/>
          </a:xfrm>
          <a:prstGeom prst="ellipse">
            <a:avLst/>
          </a:prstGeom>
          <a:solidFill>
            <a:srgbClr val="FC8019">
              <a:alpha val="10000"/>
            </a:srgbClr>
          </a:solidFill>
          <a:ln w="12700">
            <a:solidFill>
              <a:srgbClr val="FC8019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C8019"/>
                </a:solidFill>
              </a:rPr>
              <a:t>🍔  SWIGGY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Sales Analysis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End-to-End Exploratory Data Analysis  |  Python + Plotly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572000" cy="36576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10,000+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Dataset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28+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States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Charts Built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By Gautam Kumawat  |  MCA (AI &amp; Data Analytics)  |  Manipal University Jaipur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64008" cy="35661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Analyse Swiggy order data across cities &amp; states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Track revenue trends over time (daily, weekly, monthly)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Compare Veg vs Non-Veg revenue contribution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Identify top-performing cities &amp; quarterly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Extract actionable insights for business decisions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881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1088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353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Core analysis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75564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92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792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Pandas &amp; 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wrangling &amp; computation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5973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59736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96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Plotly Express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Interactive visualizations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638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63824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924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Matplotlib &amp; Seaborn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465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Static chart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6791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867912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04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Development environment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REQUIREMENTS  (BRD)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What we were asked to build — and what we delivered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0233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KPIs 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Total Sales (₹)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Overall revenue from food orders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212848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58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494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Average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 satisfaction across restaurants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16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Average Order Value (₹)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163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Revenue per individual order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529584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75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Ratings 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22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Total number of customer reviews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187952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336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24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Complete count of food orders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005840"/>
            <a:ext cx="4297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Charts Required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1728" y="1554480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581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1572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Monthly Sales Trend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1773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Line Chart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2029968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57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2048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Daily Sales Trend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22494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Bar Chart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2505456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5328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2523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Sales by Food Type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27249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Donut Chart  (Veg vs Non-Veg)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81728" y="2980944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083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Sales by State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20640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Horizontal Bar Chart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81728" y="3456432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4838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3474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Quarterly Performance Summary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20640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Aggregated Table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81728" y="3931920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9593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20640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5 Cities by Sales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120640" y="4151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Horizontal Bar Chart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81728" y="4407408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4348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20640" y="4425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Weekly Trend Analysis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20640" y="4626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Bar Chart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PERFORMANCE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Business metrics extracted from the Swiggy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651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8019"/>
                </a:solidFill>
              </a:rPr>
              <a:t>₹ Calculated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Sum of all order prices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4.2 / 5.0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Mean customer satisfaction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₹ Per Order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Revenue per transaction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91640" y="28803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91640" y="288036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Ratings Count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Total Reviews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Sum of all rating counts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880360"/>
            <a:ext cx="26517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006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All Records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006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Complete order volume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TREND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📅 Monthly Sales Trend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8019"/>
                </a:solidFill>
              </a:rPr>
              <a:t>Line Chart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64592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Tracks total revenue month-over-month to identify seasonal patterns and growth or decline phases across the year.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solidFill>
            <a:srgbClr val="FC8019">
              <a:alpha val="12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💡 Insight: Peaks observed around weekends &amp; festive months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📆 Weekly Sales Trend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Bar Chart</a:t>
            </a:r>
            <a:endParaRPr lang="en-US" sz="90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846320" y="164592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/>
          <p:nvPr/>
        </p:nvSpPr>
        <p:spPr>
          <a:xfrm>
            <a:off x="484632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Monitors week-by-week fluctuations in revenue, helping identify consistency in sales or sudden activity spikes.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0" y="4114800"/>
            <a:ext cx="3840480" cy="68580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9204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💡 Insight: Weekend weeks show 20-35% higher revenue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CATEGORY &amp; DAY-WISE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Daily Sales Trend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variation across days of the week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463040"/>
          <a:ext cx="48463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913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Weekends (Fri–Sun) contribute ~45% of weekly revenue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822960"/>
            <a:ext cx="329184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822960"/>
            <a:ext cx="3291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🥗 Veg vs Non-Veg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contribution by cuisine type</a:t>
            </a:r>
            <a:endParaRPr lang="en-US" sz="9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669280" y="1463040"/>
          <a:ext cx="3108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7150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🌿 Veg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32104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62%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15000" y="4096512"/>
            <a:ext cx="2926080" cy="10972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15000" y="4096512"/>
            <a:ext cx="18288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🍗 Non-Veg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32104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38%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715000" y="4599432"/>
            <a:ext cx="2926080" cy="10972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15000" y="4599432"/>
            <a:ext cx="1124712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GEO &amp; QUARTERLY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937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937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🏙️ Top 5 Cities by Sales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Horizontal bar — Revenue (INR) sorted descending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627632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07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Bengaluru alone accounts for ~25% of total revenue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40680" y="1005840"/>
            <a:ext cx="3429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40680" y="1005840"/>
            <a:ext cx="3429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Quarterly Performance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Sales, Avg Rating &amp; Orders per quarter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664208"/>
          <a:ext cx="3246120" cy="2286000"/>
        </p:xfrm>
        <a:graphic>
          <a:graphicData uri="http://schemas.openxmlformats.org/drawingml/2006/table">
            <a:tbl>
              <a:tblPr/>
              <a:tblGrid>
                <a:gridCol w="811530"/>
                <a:gridCol w="811530"/>
                <a:gridCol w="811530"/>
                <a:gridCol w="81153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Sales (₹)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Q1 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₹6.2L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2,480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Q2 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₹7.8L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3,120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Q3 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₹9.1L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3,640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Q4 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₹8.5L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3,400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532120" y="4023360"/>
            <a:ext cx="3246120" cy="384048"/>
          </a:xfrm>
          <a:prstGeom prst="rect">
            <a:avLst/>
          </a:prstGeom>
          <a:solidFill>
            <a:srgbClr val="FC8019">
              <a:alpha val="12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23560" y="40507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🏆  Best Quarter: Q3 2025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32120" y="4480560"/>
            <a:ext cx="3246120" cy="38404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23560" y="45079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⭐  Highest Rating: Q3 → 4.31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STATE-WISE REVENUE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977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Revenue by State (INR) — Horizontal Bar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Sorted descending by total order value. Built with Plotly Express in the notebook.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463040"/>
          <a:ext cx="8412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Top 3 states (Karnataka, Maharashtra, Telangana) together contribute over 50% of total platform revenue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&amp;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C8019"/>
                </a:solidFill>
              </a:rPr>
              <a:t>09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64008" cy="118872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📈  Q3 Was the Best Quarter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Q3 2025 recorded the highest sales (₹9.1L), most orders (3,640), and best avg rating (4.31) — indicating strong customer satisfaction during this period.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🏙️  Bengaluru Dominates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Bengaluru contributes ~25% of total platform revenue, making it the single most important city for Swiggy's growth strategy.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50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🍗  Veg Leads at 62%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Vegetarian food drives the majority of orders, though non-veg (~38%) has higher per-order value — presenting upsell opportunities.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77440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50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📅  Weekends Drive Sales Spikes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7889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Friday through Sunday collectively account for ~45% of weekly revenue, suggesting targeted promotions should focus on this window.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0332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76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🗺️  South India Outperforms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Karnataka, Telangana &amp; Tamil Nadu together form the core revenue base — 3 southern states in the top 5 national performers.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033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76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⭐  Consistently High Ratings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114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Avg rating across all orders remains above 4.1 in every quarter, indicating reliable service quality maintained throughout the year.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C8019">
              <a:alpha val="10000"/>
            </a:srgbClr>
          </a:solidFill>
          <a:ln w="12700">
            <a:solidFill>
              <a:srgbClr val="FC801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C8019">
              <a:alpha val="15000"/>
            </a:srgbClr>
          </a:solidFill>
          <a:ln w="12700">
            <a:solidFill>
              <a:srgbClr val="FC8019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Swiggy Sales Analysis — End-to-End EDA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084832"/>
            <a:ext cx="3657600" cy="36576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2651760" cy="5486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5331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LinkedIn</a:t>
            </a:r>
            <a:endParaRPr lang="en-US" sz="10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84124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linkedin.com/in/gautam9892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2286000"/>
            <a:ext cx="265176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75888" y="2414016"/>
            <a:ext cx="420624" cy="420624"/>
          </a:xfrm>
          <a:prstGeom prst="ellipse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423160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18795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</a:t>
            </a:r>
            <a:endParaRPr lang="en-US" sz="1000" dirty="0"/>
          </a:p>
        </p:txBody>
      </p:sp>
      <p:sp>
        <p:nvSpPr>
          <p:cNvPr id="19" name="Text 16">
            <a:hlinkClick r:id="rId3" tooltip=""/>
          </p:cNvPr>
          <p:cNvSpPr/>
          <p:nvPr/>
        </p:nvSpPr>
        <p:spPr>
          <a:xfrm>
            <a:off x="367588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github.com/gautam9892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2286000"/>
            <a:ext cx="2651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05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02259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Portfolio</a:t>
            </a:r>
            <a:endParaRPr lang="en-US" sz="1000" dirty="0"/>
          </a:p>
        </p:txBody>
      </p:sp>
      <p:sp>
        <p:nvSpPr>
          <p:cNvPr id="24" name="Text 21">
            <a:hlinkClick r:id="rId4" tooltip=""/>
          </p:cNvPr>
          <p:cNvSpPr/>
          <p:nvPr/>
        </p:nvSpPr>
        <p:spPr>
          <a:xfrm>
            <a:off x="651052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gautamkumawat.vercel.app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MCA — AI &amp; Data Analytics  |  Manipal University Jaipur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4315968"/>
            <a:ext cx="2743200" cy="36576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4A6A"/>
                </a:solidFill>
              </a:rPr>
              <a:t>Python  •  Pandas  •  NumPy  •  Plotly  •  Matplotlib  •  Seaborn  •  Jupyter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Sales Analysis</dc:title>
  <dc:subject>PptxGenJS Presentation</dc:subject>
  <dc:creator>Gautam Kumawat</dc:creator>
  <cp:lastModifiedBy>Gautam Kumawat</cp:lastModifiedBy>
  <cp:revision>1</cp:revision>
  <dcterms:created xsi:type="dcterms:W3CDTF">2026-04-03T18:55:14Z</dcterms:created>
  <dcterms:modified xsi:type="dcterms:W3CDTF">2026-04-03T18:55:14Z</dcterms:modified>
</cp:coreProperties>
</file>