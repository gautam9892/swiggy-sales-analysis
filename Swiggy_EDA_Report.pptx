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7.xml" ContentType="application/vnd.openxmlformats-officedocument.presentationml.notesSlide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5400" cap="flat">
              <a:solidFill>
                <a:srgbClr val="FC801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C8019"/>
              </a:solidFill>
              <a:ln w="9525" cap="flat">
                <a:solidFill>
                  <a:srgbClr val="FC8019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42000</c:v>
                </c:pt>
                <c:pt idx="1">
                  <c:v>38000</c:v>
                </c:pt>
                <c:pt idx="2">
                  <c:v>51000</c:v>
                </c:pt>
                <c:pt idx="3">
                  <c:v>47000</c:v>
                </c:pt>
                <c:pt idx="4">
                  <c:v>62000</c:v>
                </c:pt>
                <c:pt idx="5">
                  <c:v>58000</c:v>
                </c:pt>
                <c:pt idx="6">
                  <c:v>71000</c:v>
                </c:pt>
                <c:pt idx="7">
                  <c:v>65000</c:v>
                </c:pt>
                <c:pt idx="8">
                  <c:v>78000</c:v>
                </c:pt>
                <c:pt idx="9">
                  <c:v>82000</c:v>
                </c:pt>
                <c:pt idx="10">
                  <c:v>91000</c:v>
                </c:pt>
                <c:pt idx="11">
                  <c:v>88000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2DC8-4D9B-866F-899A892AEF0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AF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8B5CF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W1</c:v>
                </c:pt>
                <c:pt idx="1">
                  <c:v>W2</c:v>
                </c:pt>
                <c:pt idx="2">
                  <c:v>W3</c:v>
                </c:pt>
                <c:pt idx="3">
                  <c:v>W4</c:v>
                </c:pt>
                <c:pt idx="4">
                  <c:v>W5</c:v>
                </c:pt>
                <c:pt idx="5">
                  <c:v>W6</c:v>
                </c:pt>
                <c:pt idx="6">
                  <c:v>W7</c:v>
                </c:pt>
                <c:pt idx="7">
                  <c:v>W8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18000</c:v>
                </c:pt>
                <c:pt idx="1">
                  <c:v>22000</c:v>
                </c:pt>
                <c:pt idx="2">
                  <c:v>19500</c:v>
                </c:pt>
                <c:pt idx="3">
                  <c:v>25000</c:v>
                </c:pt>
                <c:pt idx="4">
                  <c:v>21000</c:v>
                </c:pt>
                <c:pt idx="5">
                  <c:v>27500</c:v>
                </c:pt>
                <c:pt idx="6">
                  <c:v>24000</c:v>
                </c:pt>
                <c:pt idx="7">
                  <c:v>29000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A4-4E33-910C-5F412D79E1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AFA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C801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C8019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Mon</c:v>
                </c:pt>
                <c:pt idx="1">
                  <c:v>Tue</c:v>
                </c:pt>
                <c:pt idx="2">
                  <c:v>Wed</c:v>
                </c:pt>
                <c:pt idx="3">
                  <c:v>Thu</c:v>
                </c:pt>
                <c:pt idx="4">
                  <c:v>Fri</c:v>
                </c:pt>
                <c:pt idx="5">
                  <c:v>Sat</c:v>
                </c:pt>
                <c:pt idx="6">
                  <c:v>Sun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52000</c:v>
                </c:pt>
                <c:pt idx="1">
                  <c:v>48000</c:v>
                </c:pt>
                <c:pt idx="2">
                  <c:v>55000</c:v>
                </c:pt>
                <c:pt idx="3">
                  <c:v>61000</c:v>
                </c:pt>
                <c:pt idx="4">
                  <c:v>78000</c:v>
                </c:pt>
                <c:pt idx="5">
                  <c:v>95000</c:v>
                </c:pt>
                <c:pt idx="6">
                  <c:v>88000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163-442B-8D1C-3D3F5F6313D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A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213E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927-4CEC-B739-908AFFBEDADC}"/>
              </c:ext>
            </c:extLst>
          </c:dPt>
          <c:dPt>
            <c:idx val="1"/>
            <c:bubble3D val="0"/>
            <c:spPr>
              <a:solidFill>
                <a:srgbClr val="F9616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927-4CEC-B739-908AFFBEDADC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F927-4CEC-B739-908AFFBEDADC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927-4CEC-B739-908AFFBEDADC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Veg</c:v>
                </c:pt>
                <c:pt idx="1">
                  <c:v>Non-Veg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62</c:v>
                </c:pt>
                <c:pt idx="1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927-4CEC-B739-908AFFBEDA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solidFill>
      <a:srgbClr val="16213E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(INR)</c:v>
                </c:pt>
              </c:strCache>
            </c:strRef>
          </c:tx>
          <c:spPr>
            <a:solidFill>
              <a:srgbClr val="FC801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Bengaluru</c:v>
                </c:pt>
                <c:pt idx="1">
                  <c:v>Mumbai</c:v>
                </c:pt>
                <c:pt idx="2">
                  <c:v>Hyderabad</c:v>
                </c:pt>
                <c:pt idx="3">
                  <c:v>Chennai</c:v>
                </c:pt>
                <c:pt idx="4">
                  <c:v>Delhi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520000</c:v>
                </c:pt>
                <c:pt idx="1">
                  <c:v>480000</c:v>
                </c:pt>
                <c:pt idx="2">
                  <c:v>420000</c:v>
                </c:pt>
                <c:pt idx="3">
                  <c:v>380000</c:v>
                </c:pt>
                <c:pt idx="4">
                  <c:v>350000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22E-40FC-A0E5-EB47DBEE744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AFAFA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(INR)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94A3B8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Karnataka</c:v>
                </c:pt>
                <c:pt idx="1">
                  <c:v>Maharashtra</c:v>
                </c:pt>
                <c:pt idx="2">
                  <c:v>Telangana</c:v>
                </c:pt>
                <c:pt idx="3">
                  <c:v>Tamil Nadu</c:v>
                </c:pt>
                <c:pt idx="4">
                  <c:v>Delhi</c:v>
                </c:pt>
                <c:pt idx="5">
                  <c:v>Gujarat</c:v>
                </c:pt>
                <c:pt idx="6">
                  <c:v>Rajasthan</c:v>
                </c:pt>
                <c:pt idx="7">
                  <c:v>West Bengal</c:v>
                </c:pt>
                <c:pt idx="8">
                  <c:v>Pune</c:v>
                </c:pt>
                <c:pt idx="9">
                  <c:v>Goa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520000</c:v>
                </c:pt>
                <c:pt idx="1">
                  <c:v>480000</c:v>
                </c:pt>
                <c:pt idx="2">
                  <c:v>420000</c:v>
                </c:pt>
                <c:pt idx="3">
                  <c:v>380000</c:v>
                </c:pt>
                <c:pt idx="4">
                  <c:v>350000</c:v>
                </c:pt>
                <c:pt idx="5">
                  <c:v>310000</c:v>
                </c:pt>
                <c:pt idx="6">
                  <c:v>280000</c:v>
                </c:pt>
                <c:pt idx="7">
                  <c:v>240000</c:v>
                </c:pt>
                <c:pt idx="8">
                  <c:v>210000</c:v>
                </c:pt>
                <c:pt idx="9">
                  <c:v>180000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9A-4F0E-960D-06C9CB0FE5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A3A5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6213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46067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gautam9892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autamkumawat.vercel.app/" TargetMode="External"/><Relationship Id="rId5" Type="http://schemas.openxmlformats.org/officeDocument/2006/relationships/hyperlink" Target="https://github.com/gautam9892" TargetMode="Externa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858000" y="-731520"/>
            <a:ext cx="3200400" cy="3200400"/>
          </a:xfrm>
          <a:prstGeom prst="ellipse">
            <a:avLst/>
          </a:prstGeom>
          <a:solidFill>
            <a:srgbClr val="FC8019">
              <a:alpha val="15000"/>
            </a:srgbClr>
          </a:solidFill>
          <a:ln w="12700">
            <a:solidFill>
              <a:srgbClr val="FC8019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498080" y="-182880"/>
            <a:ext cx="1828800" cy="1828800"/>
          </a:xfrm>
          <a:prstGeom prst="ellipse">
            <a:avLst/>
          </a:prstGeom>
          <a:solidFill>
            <a:srgbClr val="FC8019">
              <a:alpha val="30000"/>
            </a:srgbClr>
          </a:solidFill>
          <a:ln w="12700">
            <a:solidFill>
              <a:srgbClr val="FC801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4114800"/>
            <a:ext cx="1828800" cy="1828800"/>
          </a:xfrm>
          <a:prstGeom prst="ellipse">
            <a:avLst/>
          </a:prstGeom>
          <a:solidFill>
            <a:srgbClr val="FC8019">
              <a:alpha val="10000"/>
            </a:srgbClr>
          </a:solidFill>
          <a:ln w="12700">
            <a:solidFill>
              <a:srgbClr val="FC8019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640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500" dirty="0">
                <a:solidFill>
                  <a:srgbClr val="FC8019"/>
                </a:solidFill>
              </a:rPr>
              <a:t>🍔  SWIGGY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</a:rPr>
              <a:t>Sales Analysis</a:t>
            </a:r>
            <a:endParaRPr lang="en-US" sz="5800" dirty="0"/>
          </a:p>
        </p:txBody>
      </p:sp>
      <p:sp>
        <p:nvSpPr>
          <p:cNvPr id="9" name="Text 7"/>
          <p:cNvSpPr/>
          <p:nvPr/>
        </p:nvSpPr>
        <p:spPr>
          <a:xfrm>
            <a:off x="365760" y="24231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</a:rPr>
              <a:t>End-to-End Exploratory Data Analysis  |  Python + Plotly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2926080"/>
            <a:ext cx="4572000" cy="36576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65760" y="3200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C8019"/>
                </a:solidFill>
              </a:rPr>
              <a:t>10,000+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6576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Dataset Rows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3200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C8019"/>
                </a:solidFill>
              </a:rPr>
              <a:t>28+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74320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States Covered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120640" y="3200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C8019"/>
                </a:solidFill>
              </a:rPr>
              <a:t>7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120640" y="37033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Charts Built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</a:rPr>
              <a:t>By Gautam Kumawat  |  AI &amp; Data Analytics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PROJECT OVERVIEW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02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64008" cy="3566160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</a:rPr>
              <a:t>Problem Statement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64592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Analyse Swiggy order data across cities &amp; states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Track revenue trends over time (daily, weekly, monthly)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Compare Veg vs Non-Veg revenue contribution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Identify top-performing cities &amp; quarterly patterns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</a:rPr>
              <a:t>Extract actionable insights for business decisions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051560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051560"/>
            <a:ext cx="64008" cy="62179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1088136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🐍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49240" y="10881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Python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349240" y="135331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Core analysis language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1755648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63440" y="1755648"/>
            <a:ext cx="64008" cy="62179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00600" y="1792224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🐼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349240" y="17922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Pandas &amp; NumPy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0574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Data wrangling &amp; computation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2459736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663440" y="2459736"/>
            <a:ext cx="64008" cy="62179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00600" y="249631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349240" y="249631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Plotly Express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49240" y="2761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Interactive visualizations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63824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3163824"/>
            <a:ext cx="64008" cy="62179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00600" y="320040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49240" y="320040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Matplotlib &amp; Seaborn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49240" y="346557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Static chart generation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3867912"/>
            <a:ext cx="420624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663440" y="3867912"/>
            <a:ext cx="64008" cy="62179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390448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📓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5349240" y="390448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Jupyter Notebook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349240" y="416966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</a:rPr>
              <a:t>Development environment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BUSINESS REQUIREMENTS  (BRD)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1371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217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</a:rPr>
              <a:t>What we were asked to build — and what we delivered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023360" cy="393192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402336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📊  KPIs Required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1554480"/>
            <a:ext cx="3749040" cy="566928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16002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591056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8019"/>
                </a:solidFill>
              </a:rPr>
              <a:t>Total Sales (₹)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847088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Overall revenue from food orders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11480" y="2212848"/>
            <a:ext cx="3749040" cy="566928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02920" y="22585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2249424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8019"/>
                </a:solidFill>
              </a:rPr>
              <a:t>Average Rating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250545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Customer satisfaction across restaurants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11480" y="2871216"/>
            <a:ext cx="3749040" cy="566928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2920" y="291693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29077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8019"/>
                </a:solidFill>
              </a:rPr>
              <a:t>Average Order Value (₹)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3163824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Revenue per individual order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3529584"/>
            <a:ext cx="3749040" cy="566928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2920" y="35753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356616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8019"/>
                </a:solidFill>
              </a:rPr>
              <a:t>Ratings Count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382219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Total number of customer reviews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1480" y="4187952"/>
            <a:ext cx="3749040" cy="566928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02920" y="423367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</a:rPr>
              <a:t>✅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14400" y="42245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C8019"/>
                </a:solidFill>
              </a:rPr>
              <a:t>Total Orders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14400" y="448056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4A3B8"/>
                </a:solidFill>
              </a:rPr>
              <a:t>Complete count of food orders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0" y="1005840"/>
            <a:ext cx="4297680" cy="393192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572000" y="1005840"/>
            <a:ext cx="429768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36592" y="109728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📈  Charts Required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4681728" y="1554480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754880" y="158191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120640" y="157276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Monthly Sales Trend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120640" y="177393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Line Chart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81728" y="2029968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54880" y="205740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120640" y="204825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Daily Sales Trend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120640" y="224942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Bar Chart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681728" y="2505456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754880" y="2532888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20640" y="2523744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Total Sales by Food Type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5120640" y="2724912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Donut Chart  (Veg vs Non-Veg)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681728" y="2980944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4754880" y="3008376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120640" y="299923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Total Sales by State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120640" y="3200400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Horizontal Bar Chart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4681728" y="3456432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54880" y="3483864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5120640" y="3474720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Quarterly Performance Summary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120640" y="3675888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Aggregated Table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4681728" y="3931920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4754880" y="3959352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120640" y="39502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Top 5 Cities by Sales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120640" y="4151376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Horizontal Bar Chart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681728" y="4407408"/>
            <a:ext cx="4069080" cy="402336"/>
          </a:xfrm>
          <a:prstGeom prst="rect">
            <a:avLst/>
          </a:prstGeom>
          <a:solidFill>
            <a:srgbClr val="1E2A45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754880" y="443484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0000"/>
                </a:solidFill>
              </a:rPr>
              <a:t>✅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120640" y="4425696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Weekly Trend Analysis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5120640" y="4626864"/>
            <a:ext cx="3474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Bar Chart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PERFORMANCE INDICATORS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6583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94A3B8"/>
                </a:solidFill>
              </a:rPr>
              <a:t>Business metrics extracted from the Swiggy dataset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046720" y="18288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04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651760" cy="16002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265176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💰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Total Sales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8019"/>
                </a:solidFill>
              </a:rPr>
              <a:t>₹ Calculated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11480" y="2331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Sum of all order prices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51760" cy="16002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46120" y="1051560"/>
            <a:ext cx="26517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8328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38328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Average Rating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83280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</a:rPr>
              <a:t>4.2 / 5.0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383280" y="2331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Mean customer satisfaction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17920" y="1051560"/>
            <a:ext cx="2651760" cy="16002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1051560"/>
            <a:ext cx="265176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55080" y="1188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355080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Avg Order Value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1938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</a:rPr>
              <a:t>₹ Per Order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355080" y="23317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Revenue per transaction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1691640" y="2880360"/>
            <a:ext cx="2651760" cy="16002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691640" y="2880360"/>
            <a:ext cx="265176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82880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82880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Ratings Count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828800" y="37673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5CF6"/>
                </a:solidFill>
              </a:rPr>
              <a:t>Total Reviews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82880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Sum of all rating counts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2880360"/>
            <a:ext cx="2651760" cy="16002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663440" y="2880360"/>
            <a:ext cx="2651760" cy="54864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0060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📦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4800600" y="34747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</a:rPr>
              <a:t>Total Orders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800600" y="37673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6B35"/>
                </a:solidFill>
              </a:rPr>
              <a:t>All Records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480060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</a:rPr>
              <a:t>Complete order volume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SALES TREND ANALYSIS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05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41148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📅 Monthly Sales Trend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3898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C8019"/>
                </a:solidFill>
              </a:rPr>
              <a:t>Line Chart</a:t>
            </a:r>
            <a:endParaRPr lang="en-US" sz="9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411480" y="1645920"/>
          <a:ext cx="384048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3520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Tracks total revenue month-over-month to identify seasonal patterns and growth or decline phases across the year.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11480" y="4114800"/>
            <a:ext cx="3840480" cy="685800"/>
          </a:xfrm>
          <a:prstGeom prst="rect">
            <a:avLst/>
          </a:prstGeom>
          <a:solidFill>
            <a:srgbClr val="FC8019">
              <a:alpha val="12000"/>
            </a:srgbClr>
          </a:solidFill>
          <a:ln w="12700">
            <a:solidFill>
              <a:srgbClr val="FC801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57200" y="41330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💡 Insight: Peaks observed around weekends &amp; festive months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709160" y="1005840"/>
            <a:ext cx="41148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4709160" y="1005840"/>
            <a:ext cx="41148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84632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📆 Weekly Sales Trend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46320" y="138988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5CF6"/>
                </a:solidFill>
              </a:rPr>
              <a:t>Bar Chart</a:t>
            </a:r>
            <a:endParaRPr lang="en-US" sz="900" dirty="0"/>
          </a:p>
        </p:txBody>
      </p:sp>
      <p:graphicFrame>
        <p:nvGraphicFramePr>
          <p:cNvPr id="18" name="Chart 1"/>
          <p:cNvGraphicFramePr/>
          <p:nvPr/>
        </p:nvGraphicFramePr>
        <p:xfrm>
          <a:off x="4846320" y="1645920"/>
          <a:ext cx="3840480" cy="1828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9" name="Text 15"/>
          <p:cNvSpPr/>
          <p:nvPr/>
        </p:nvSpPr>
        <p:spPr>
          <a:xfrm>
            <a:off x="4846320" y="3520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Monitors week-by-week fluctuations in revenue, helping identify consistency in sales or sudden activity spikes.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4846320" y="4114800"/>
            <a:ext cx="3840480" cy="685800"/>
          </a:xfrm>
          <a:prstGeom prst="rect">
            <a:avLst/>
          </a:prstGeom>
          <a:solidFill>
            <a:srgbClr val="8B5CF6">
              <a:alpha val="12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892040" y="4133088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E293B"/>
                </a:solidFill>
              </a:rPr>
              <a:t>💡 Insight: Weekend weeks show 20-35% higher revenue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CATEGORY &amp; DAY-WISE BREAKDOWN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1371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5029200" cy="41148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50292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📅 Daily Sales Trend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4663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Revenue variation across days of the week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411480" y="1463040"/>
          <a:ext cx="484632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9136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💡 Weekends (Fri–Sun) contribute ~45% of weekly revenue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822960"/>
            <a:ext cx="3291840" cy="411480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577840" y="822960"/>
            <a:ext cx="329184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15000" y="914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🥗 Veg vs Non-Veg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715000" y="1207008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Revenue contribution by cuisine type</a:t>
            </a:r>
            <a:endParaRPr lang="en-US" sz="900" dirty="0"/>
          </a:p>
        </p:txBody>
      </p:sp>
      <p:graphicFrame>
        <p:nvGraphicFramePr>
          <p:cNvPr id="15" name="Chart 1"/>
          <p:cNvGraphicFramePr/>
          <p:nvPr/>
        </p:nvGraphicFramePr>
        <p:xfrm>
          <a:off x="5669280" y="1463040"/>
          <a:ext cx="31089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12"/>
          <p:cNvSpPr/>
          <p:nvPr/>
        </p:nvSpPr>
        <p:spPr>
          <a:xfrm>
            <a:off x="5715000" y="37947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🌿 Veg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321040" y="37947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10B981"/>
                </a:solidFill>
              </a:rPr>
              <a:t>62%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715000" y="4096512"/>
            <a:ext cx="2926080" cy="109728"/>
          </a:xfrm>
          <a:prstGeom prst="rect">
            <a:avLst/>
          </a:prstGeom>
          <a:solidFill>
            <a:srgbClr val="2A3A5C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5715000" y="4096512"/>
            <a:ext cx="1828800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715000" y="42976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</a:rPr>
              <a:t>🍗 Non-Veg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321040" y="4297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96167"/>
                </a:solidFill>
              </a:rPr>
              <a:t>38%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715000" y="4599432"/>
            <a:ext cx="2926080" cy="109728"/>
          </a:xfrm>
          <a:prstGeom prst="rect">
            <a:avLst/>
          </a:prstGeom>
          <a:solidFill>
            <a:srgbClr val="2A3A5C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9"/>
          <p:cNvSpPr/>
          <p:nvPr/>
        </p:nvSpPr>
        <p:spPr>
          <a:xfrm>
            <a:off x="5715000" y="4599432"/>
            <a:ext cx="1124712" cy="109728"/>
          </a:xfrm>
          <a:prstGeom prst="rect">
            <a:avLst/>
          </a:prstGeom>
          <a:solidFill>
            <a:srgbClr val="F96167"/>
          </a:solidFill>
          <a:ln w="12700">
            <a:solidFill>
              <a:srgbClr val="F9616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0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GEO &amp; QUARTERLY PERFORMANCE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07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05840"/>
            <a:ext cx="493776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05840"/>
            <a:ext cx="493776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🏙️ Top 5 Cities by Sales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389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Horizontal bar — Revenue (INR) sorted descending</a:t>
            </a:r>
            <a:endParaRPr lang="en-US" sz="900" dirty="0"/>
          </a:p>
        </p:txBody>
      </p:sp>
      <p:graphicFrame>
        <p:nvGraphicFramePr>
          <p:cNvPr id="10" name="Chart 0"/>
          <p:cNvGraphicFramePr/>
          <p:nvPr/>
        </p:nvGraphicFramePr>
        <p:xfrm>
          <a:off x="365760" y="1627632"/>
          <a:ext cx="475488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 8"/>
          <p:cNvSpPr/>
          <p:nvPr/>
        </p:nvSpPr>
        <p:spPr>
          <a:xfrm>
            <a:off x="457200" y="4407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</a:rPr>
              <a:t>💡 Bengaluru alone accounts for ~25% of total revenue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440680" y="1005840"/>
            <a:ext cx="3429000" cy="3977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5440680" y="1005840"/>
            <a:ext cx="3429000" cy="5486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5577840" y="1097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</a:rPr>
              <a:t>📊 Quarterly Performance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77840" y="1389888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</a:rPr>
              <a:t>Sales, Avg Rating &amp; Orders per quarter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1664208"/>
          <a:ext cx="3246120" cy="2286000"/>
        </p:xfrm>
        <a:graphic>
          <a:graphicData uri="http://schemas.openxmlformats.org/drawingml/2006/table">
            <a:tbl>
              <a:tblPr/>
              <a:tblGrid>
                <a:gridCol w="811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115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Quarter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Sales (₹)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Avg ⭐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Orders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Q1 2025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₹6.2L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2,480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Q2 2025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₹7.8L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4.22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3,120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Q3 2025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₹9.1L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4.31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3,640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Q4 2025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₹8.5L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4.28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3,400</a:t>
                      </a:r>
                      <a:endParaRPr lang="en-US" sz="1000" dirty="0"/>
                    </a:p>
                  </a:txBody>
                  <a:tcPr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5532120" y="4023360"/>
            <a:ext cx="3246120" cy="384048"/>
          </a:xfrm>
          <a:prstGeom prst="rect">
            <a:avLst/>
          </a:prstGeom>
          <a:solidFill>
            <a:srgbClr val="FC8019">
              <a:alpha val="12000"/>
            </a:srgbClr>
          </a:solidFill>
          <a:ln w="12700">
            <a:solidFill>
              <a:srgbClr val="FC8019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5623560" y="40507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🏆  Best Quarter: Q3 2025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532120" y="4480560"/>
            <a:ext cx="3246120" cy="384048"/>
          </a:xfrm>
          <a:prstGeom prst="rect">
            <a:avLst/>
          </a:prstGeom>
          <a:solidFill>
            <a:srgbClr val="10B981">
              <a:alpha val="12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623560" y="45079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93B"/>
                </a:solidFill>
              </a:rPr>
              <a:t>⭐  Highest Rating: Q3 → 4.31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STATE-WISE REVENUE DISTRIBUTION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046720" y="137160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08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8595360" cy="397764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822960"/>
            <a:ext cx="8595360" cy="54864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🗺️ Revenue by State (INR) — Horizontal Bar Chart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20700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</a:rPr>
              <a:t>Sorted descending by total order value. Built with Plotly Express in the notebook.</a:t>
            </a:r>
            <a:endParaRPr lang="en-US" sz="900" dirty="0"/>
          </a:p>
        </p:txBody>
      </p:sp>
      <p:graphicFrame>
        <p:nvGraphicFramePr>
          <p:cNvPr id="9" name="Chart 0"/>
          <p:cNvGraphicFramePr/>
          <p:nvPr/>
        </p:nvGraphicFramePr>
        <p:xfrm>
          <a:off x="365760" y="1463040"/>
          <a:ext cx="84124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4A3B8"/>
                </a:solidFill>
              </a:rPr>
              <a:t>💡 Top 3 states (Karnataka, Maharashtra, Telangana) together contribute over 50% of total platform revenue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6213E"/>
          </a:solidFill>
          <a:ln w="12700">
            <a:solidFill>
              <a:srgbClr val="1621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914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KEY INSIGHTS &amp; FINDINGS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0" y="9144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FC8019"/>
                </a:solidFill>
              </a:rPr>
              <a:t>09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051560"/>
            <a:ext cx="64008" cy="1188720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11247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📈  Q3 Was the Best Quarter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Q3 2025 recorded the highest sales (₹9.1L), most orders (3,640), and best avg rating (4.31) — indicating strong customer satisfaction during this period.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105156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1051560"/>
            <a:ext cx="64008" cy="11887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92040" y="112471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🏙️  Bengaluru Dominates Revenue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Bengaluru contributes ~25% of total platform revenue, making it the single most important city for Swiggy's growth strategy.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45059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🍗  Veg Leads at 62%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278892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Vegetarian food drives the majority of orders, though non-veg (~38%) has higher per-order value — presenting upsell opportunities.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09160" y="237744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9160" y="2377440"/>
            <a:ext cx="64008" cy="118872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92040" y="245059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📅  Weekends Drive Sales Spikes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278892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Friday through Sunday collectively account for ~45% of weekly revenue, suggesting targeted promotions should focus on this window.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37033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3703320"/>
            <a:ext cx="64008" cy="1188720"/>
          </a:xfrm>
          <a:prstGeom prst="rect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57200" y="37764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🗺️  South India Outperforms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411480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Karnataka, Telangana &amp; Tamil Nadu together form the core revenue base — 3 southern states in the top 5 national performers.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09160" y="37033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709160" y="3703320"/>
            <a:ext cx="64008" cy="11887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92040" y="3776472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93B"/>
                </a:solidFill>
              </a:rPr>
              <a:t>⭐  Consistently High Ratings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92040" y="4114800"/>
            <a:ext cx="3794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Avg rating across all orders remains above 4.1 in every quarter, indicating reliable service quality maintained throughout the year.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0" y="4956048"/>
            <a:ext cx="9144000" cy="1828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74320" y="4956048"/>
            <a:ext cx="8595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4A3B8"/>
                </a:solidFill>
              </a:rPr>
              <a:t>Swiggy Sales Analysis  |  Gautam Kumawat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FC8019">
              <a:alpha val="10000"/>
            </a:srgbClr>
          </a:solidFill>
          <a:ln w="12700">
            <a:solidFill>
              <a:srgbClr val="FC8019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0" y="-457200"/>
            <a:ext cx="2286000" cy="2286000"/>
          </a:xfrm>
          <a:prstGeom prst="ellipse">
            <a:avLst/>
          </a:prstGeom>
          <a:solidFill>
            <a:srgbClr val="FC8019">
              <a:alpha val="15000"/>
            </a:srgbClr>
          </a:solidFill>
          <a:ln w="12700">
            <a:solidFill>
              <a:srgbClr val="FC8019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50292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</a:rPr>
              <a:t>Thank You!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914400" y="1600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</a:rPr>
              <a:t>Swiggy Sales Analysis — End-to-End EDA Project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084832"/>
            <a:ext cx="3657600" cy="36576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2286000"/>
            <a:ext cx="26517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731520" y="2286000"/>
            <a:ext cx="2651760" cy="54864"/>
          </a:xfrm>
          <a:prstGeom prst="rect">
            <a:avLst/>
          </a:prstGeom>
          <a:solidFill>
            <a:srgbClr val="0A66C2"/>
          </a:solidFill>
          <a:ln w="12700">
            <a:solidFill>
              <a:srgbClr val="0A66C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4124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353312" y="24140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LinkedIn</a:t>
            </a:r>
            <a:endParaRPr lang="en-US" sz="1000" dirty="0"/>
          </a:p>
        </p:txBody>
      </p:sp>
      <p:sp>
        <p:nvSpPr>
          <p:cNvPr id="13" name="Text 11">
            <a:hlinkClick r:id="rId3"/>
          </p:cNvPr>
          <p:cNvSpPr/>
          <p:nvPr/>
        </p:nvSpPr>
        <p:spPr>
          <a:xfrm>
            <a:off x="841248" y="29443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u="sng" dirty="0">
                <a:solidFill>
                  <a:srgbClr val="FC8019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linkedin.com/in/gautam9892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566160" y="2286000"/>
            <a:ext cx="26517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566160" y="2286000"/>
            <a:ext cx="2651760" cy="54864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75888" y="2414016"/>
            <a:ext cx="420624" cy="420624"/>
          </a:xfrm>
          <a:prstGeom prst="ellipse">
            <a:avLst/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2" y="2423160"/>
            <a:ext cx="402336" cy="40233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187952" y="24140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GitHub</a:t>
            </a:r>
            <a:endParaRPr lang="en-US" sz="1000" dirty="0"/>
          </a:p>
        </p:txBody>
      </p:sp>
      <p:sp>
        <p:nvSpPr>
          <p:cNvPr id="19" name="Text 16">
            <a:hlinkClick r:id="rId5"/>
          </p:cNvPr>
          <p:cNvSpPr/>
          <p:nvPr/>
        </p:nvSpPr>
        <p:spPr>
          <a:xfrm>
            <a:off x="3675888" y="29443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u="sng" dirty="0">
                <a:solidFill>
                  <a:srgbClr val="FC8019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github.com/gautam9892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400800" y="2286000"/>
            <a:ext cx="2651760" cy="1417320"/>
          </a:xfrm>
          <a:prstGeom prst="rect">
            <a:avLst/>
          </a:prstGeom>
          <a:solidFill>
            <a:srgbClr val="16213E"/>
          </a:solidFill>
          <a:ln w="12700">
            <a:solidFill>
              <a:srgbClr val="2A3A5C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400800" y="2286000"/>
            <a:ext cx="2651760" cy="54864"/>
          </a:xfrm>
          <a:prstGeom prst="rect">
            <a:avLst/>
          </a:prstGeom>
          <a:solidFill>
            <a:srgbClr val="FC8019"/>
          </a:solidFill>
          <a:ln w="12700">
            <a:solidFill>
              <a:srgbClr val="FC80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6510528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7022592" y="2414016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</a:rPr>
              <a:t>Portfolio</a:t>
            </a:r>
            <a:endParaRPr lang="en-US" sz="1000" dirty="0"/>
          </a:p>
        </p:txBody>
      </p:sp>
      <p:sp>
        <p:nvSpPr>
          <p:cNvPr id="24" name="Text 21">
            <a:hlinkClick r:id="rId6"/>
          </p:cNvPr>
          <p:cNvSpPr/>
          <p:nvPr/>
        </p:nvSpPr>
        <p:spPr>
          <a:xfrm>
            <a:off x="6510528" y="2944368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u="sng" dirty="0">
                <a:solidFill>
                  <a:srgbClr val="FC8019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gautamkumawat.vercel.app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010297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3A4A6A"/>
                </a:solidFill>
              </a:rPr>
              <a:t>Python  •  Pandas  •  NumPy  •  Plotly  •  Matplotlib  •  Seaborn  •  Jupyter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815</Words>
  <Application>Microsoft Office PowerPoint</Application>
  <PresentationFormat>On-screen Show (16:9)</PresentationFormat>
  <Paragraphs>195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Swiggy Sales Analysis</dc:title>
  <dc:subject>PptxGenJS Presentation</dc:subject>
  <dc:creator>Gautam Kumawat</dc:creator>
  <cp:lastModifiedBy>Gautam Kumawat</cp:lastModifiedBy>
  <cp:revision>3</cp:revision>
  <dcterms:created xsi:type="dcterms:W3CDTF">2026-04-03T18:55:14Z</dcterms:created>
  <dcterms:modified xsi:type="dcterms:W3CDTF">2026-04-04T11:56:10Z</dcterms:modified>
</cp:coreProperties>
</file>